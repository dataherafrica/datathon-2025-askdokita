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8" r:id="rId4"/>
  </p:sldMasterIdLst>
  <p:notesMasterIdLst>
    <p:notesMasterId r:id="rId15"/>
  </p:notesMasterIdLst>
  <p:handoutMasterIdLst>
    <p:handoutMasterId r:id="rId16"/>
  </p:handoutMasterIdLst>
  <p:sldIdLst>
    <p:sldId id="411" r:id="rId5"/>
    <p:sldId id="410" r:id="rId6"/>
    <p:sldId id="383" r:id="rId7"/>
    <p:sldId id="409" r:id="rId8"/>
    <p:sldId id="391" r:id="rId9"/>
    <p:sldId id="412" r:id="rId10"/>
    <p:sldId id="397" r:id="rId11"/>
    <p:sldId id="408" r:id="rId12"/>
    <p:sldId id="407" r:id="rId13"/>
    <p:sldId id="39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8A107856-5554-42FB-B03E-39F5DBC370B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6327" autoAdjust="0"/>
  </p:normalViewPr>
  <p:slideViewPr>
    <p:cSldViewPr snapToGrid="0">
      <p:cViewPr varScale="1">
        <p:scale>
          <a:sx n="70" d="100"/>
          <a:sy n="70" d="100"/>
        </p:scale>
        <p:origin x="268" y="38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howGuides="1">
      <p:cViewPr varScale="1">
        <p:scale>
          <a:sx n="58" d="100"/>
          <a:sy n="58" d="100"/>
        </p:scale>
        <p:origin x="3240" y="6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commentAuthors" Target="commentAuthor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8/10/relationships/authors" Target="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F6756E-81DA-9FAC-70D8-556F658BDDA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BEDD12-BCD5-485B-BCBC-34BB01D7923C}" type="datetimeFigureOut">
              <a:rPr lang="en-US" smtClean="0"/>
              <a:t>11/23/2025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71D415-D05A-7067-CCD3-457153D96CD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C230DF-5933-439D-898F-38E9AC9BA68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97095E3-54D2-CFD2-4F49-7536FC8641D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8" name="Header Placeholder 7">
            <a:extLst>
              <a:ext uri="{FF2B5EF4-FFF2-40B4-BE49-F238E27FC236}">
                <a16:creationId xmlns:a16="http://schemas.microsoft.com/office/drawing/2014/main" id="{521EE01A-C0B5-5ECF-96DD-768F86AA15C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32284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E7A52F-9D89-7442-A8E9-48D1527B5F6B}" type="datetimeFigureOut">
              <a:rPr lang="en-US" smtClean="0"/>
              <a:t>11/23/2025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9C7E07-3C67-C64C-8DA0-0404F630397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25283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2B3CF1-FAD6-91EB-5C27-D4D57E5CE5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FF7EA25-2204-6FD0-F3A4-51F71507E5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EEBB51A-A7A1-D095-EBE4-2B720C99AF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631223-38F7-1A0B-F00E-9FEBEA5C38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53379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24538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34168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04331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827656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BBC04D-2568-C19F-6211-ABA7996CBC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BD96A4-D432-FA69-5E46-4DF91D77CA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639921-CFBB-DE6F-31EB-81B758CA02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53E3F8-8185-F97B-2F08-1F44FCE2A5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777778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618372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116043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59231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69706A2-3726-FE4E-B923-E75D48597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13275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806C6F65-35CD-D64B-992A-0C1C1E003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7" name="AutoShape 24">
              <a:extLst>
                <a:ext uri="{FF2B5EF4-FFF2-40B4-BE49-F238E27FC236}">
                  <a16:creationId xmlns:a16="http://schemas.microsoft.com/office/drawing/2014/main" id="{CFD467E2-FF13-7E4F-BEF9-EA1A17665B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CA85A327-3157-B442-993A-6900F71249AC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9A459CB4-74AF-0544-AB1E-7CC6D10F84EB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95A20BFD-9142-D64A-A78A-61B75FCA0D76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B80736DF-C890-DB47-AEAA-D3D92505E632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2" name="Title 1">
            <a:extLst>
              <a:ext uri="{FF2B5EF4-FFF2-40B4-BE49-F238E27FC236}">
                <a16:creationId xmlns:a16="http://schemas.microsoft.com/office/drawing/2014/main" id="{39F93F26-ED5C-E74E-BFBD-E3054DC1B9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89572"/>
            <a:ext cx="6787747" cy="1593507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 spc="50" baseline="0"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186153BD-9D2B-47EB-3553-1D3F6663B2A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4359" y="2281918"/>
            <a:ext cx="6787747" cy="3708517"/>
          </a:xfrm>
        </p:spPr>
        <p:txBody>
          <a:bodyPr lIns="0" tIns="228600" rIns="0" bIns="0">
            <a:normAutofit/>
          </a:bodyPr>
          <a:lstStyle>
            <a:lvl1pPr marL="283464" indent="-283464">
              <a:lnSpc>
                <a:spcPct val="80000"/>
              </a:lnSpc>
              <a:spcBef>
                <a:spcPts val="2200"/>
              </a:spcBef>
              <a:buFont typeface="Arial" panose="020B0604020202020204" pitchFamily="34" charset="0"/>
              <a:buChar char="•"/>
              <a:defRPr lang="en-US" sz="2400" b="1" i="0" kern="1200" dirty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indent="-283464">
              <a:spcBef>
                <a:spcPts val="600"/>
              </a:spcBef>
              <a:defRPr sz="2000"/>
            </a:lvl2pPr>
            <a:lvl3pPr indent="-283464">
              <a:spcBef>
                <a:spcPts val="1800"/>
              </a:spcBef>
              <a:defRPr sz="2000"/>
            </a:lvl3pPr>
            <a:lvl4pPr indent="-283464">
              <a:spcBef>
                <a:spcPts val="1800"/>
              </a:spcBef>
              <a:defRPr sz="2000"/>
            </a:lvl4pPr>
            <a:lvl5pPr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3" name="Slide Number Placeholder 42">
            <a:extLst>
              <a:ext uri="{FF2B5EF4-FFF2-40B4-BE49-F238E27FC236}">
                <a16:creationId xmlns:a16="http://schemas.microsoft.com/office/drawing/2014/main" id="{D80CCC8F-9CF1-9621-04EB-DFA68FEE42D2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42" name="Date Placeholder 41">
            <a:extLst>
              <a:ext uri="{FF2B5EF4-FFF2-40B4-BE49-F238E27FC236}">
                <a16:creationId xmlns:a16="http://schemas.microsoft.com/office/drawing/2014/main" id="{29CE2856-DB8F-5603-C085-74C70560FAC8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79826C1-7A52-DA25-F422-EE62DED7D1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0552" cy="0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80892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79D0555-EBDC-B53A-212D-A5921795FEC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80543"/>
          </a:xfrm>
          <a:custGeom>
            <a:avLst/>
            <a:gdLst>
              <a:gd name="connsiteX0" fmla="*/ 6309360 w 12192000"/>
              <a:gd name="connsiteY0" fmla="*/ 3951843 h 6880543"/>
              <a:gd name="connsiteX1" fmla="*/ 6309360 w 12192000"/>
              <a:gd name="connsiteY1" fmla="*/ 4052427 h 6880543"/>
              <a:gd name="connsiteX2" fmla="*/ 8442960 w 12192000"/>
              <a:gd name="connsiteY2" fmla="*/ 4052427 h 6880543"/>
              <a:gd name="connsiteX3" fmla="*/ 8442960 w 12192000"/>
              <a:gd name="connsiteY3" fmla="*/ 3951843 h 6880543"/>
              <a:gd name="connsiteX4" fmla="*/ 0 w 12192000"/>
              <a:gd name="connsiteY4" fmla="*/ 0 h 6880543"/>
              <a:gd name="connsiteX5" fmla="*/ 12192000 w 12192000"/>
              <a:gd name="connsiteY5" fmla="*/ 0 h 6880543"/>
              <a:gd name="connsiteX6" fmla="*/ 12192000 w 12192000"/>
              <a:gd name="connsiteY6" fmla="*/ 6880543 h 6880543"/>
              <a:gd name="connsiteX7" fmla="*/ 0 w 12192000"/>
              <a:gd name="connsiteY7" fmla="*/ 6880543 h 6880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80543">
                <a:moveTo>
                  <a:pt x="6309360" y="3951843"/>
                </a:moveTo>
                <a:lnTo>
                  <a:pt x="6309360" y="4052427"/>
                </a:lnTo>
                <a:lnTo>
                  <a:pt x="8442960" y="4052427"/>
                </a:lnTo>
                <a:lnTo>
                  <a:pt x="8442960" y="3951843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80543"/>
                </a:lnTo>
                <a:lnTo>
                  <a:pt x="0" y="6880543"/>
                </a:lnTo>
                <a:close/>
              </a:path>
            </a:pathLst>
          </a:custGeom>
        </p:spPr>
        <p:txBody>
          <a:bodyPr wrap="square" tIns="182880">
            <a:no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8D492973-78E3-D34E-835E-CF2D451701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09359" y="444933"/>
            <a:ext cx="5477479" cy="329184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600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96BA398-1ED2-1FCA-63B9-8915A8C7A5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09360" y="3951843"/>
            <a:ext cx="2133600" cy="10058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91695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104">
          <p15:clr>
            <a:srgbClr val="FBAE40"/>
          </p15:clr>
        </p15:guide>
        <p15:guide id="3" pos="4344" userDrawn="1">
          <p15:clr>
            <a:srgbClr val="FBAE40"/>
          </p15:clr>
        </p15:guide>
        <p15:guide id="4" pos="4560" userDrawn="1">
          <p15:clr>
            <a:srgbClr val="FBAE40"/>
          </p15:clr>
        </p15:guide>
        <p15:guide id="8" orient="horz" pos="1848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99835" y="43052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A9973BC6-F6E5-0B3B-C8AB-0AC4020D4E8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-11113"/>
            <a:ext cx="5791200" cy="6880226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99835" y="456860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9169ED6-4B82-6844-119F-AC15CDF2D3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79140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57F1500-1A16-D1EF-4F0C-030852B291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2D07A0BE-3890-193E-9439-F294E61A71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11" name="Freeform 19">
              <a:extLst>
                <a:ext uri="{FF2B5EF4-FFF2-40B4-BE49-F238E27FC236}">
                  <a16:creationId xmlns:a16="http://schemas.microsoft.com/office/drawing/2014/main" id="{C05217ED-C258-E6CE-BA7F-28A6EA41BCD3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20">
              <a:extLst>
                <a:ext uri="{FF2B5EF4-FFF2-40B4-BE49-F238E27FC236}">
                  <a16:creationId xmlns:a16="http://schemas.microsoft.com/office/drawing/2014/main" id="{F3E11A1F-14DD-BA35-D7D7-4D4ADEAA348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21">
              <a:extLst>
                <a:ext uri="{FF2B5EF4-FFF2-40B4-BE49-F238E27FC236}">
                  <a16:creationId xmlns:a16="http://schemas.microsoft.com/office/drawing/2014/main" id="{F14541B0-973F-7E21-1019-D2FB83C8C0D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32" name="Title 1">
            <a:extLst>
              <a:ext uri="{FF2B5EF4-FFF2-40B4-BE49-F238E27FC236}">
                <a16:creationId xmlns:a16="http://schemas.microsoft.com/office/drawing/2014/main" id="{467E05B6-B7CB-1E4F-96BA-4B8CFE8B63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02875"/>
            <a:ext cx="10873740" cy="1680205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F6FE0DC0-B0D7-F4D6-8038-177AD7A8C21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57600" y="2282008"/>
            <a:ext cx="7810500" cy="3699328"/>
          </a:xfrm>
        </p:spPr>
        <p:txBody>
          <a:bodyPr lIns="0" tIns="228600" rIns="0" bIns="0">
            <a:normAutofit/>
          </a:bodyPr>
          <a:lstStyle>
            <a:lvl1pPr marL="283464" indent="-283464">
              <a:spcBef>
                <a:spcPts val="1800"/>
              </a:spcBef>
              <a:buFont typeface="Arial" panose="020B0604020202020204" pitchFamily="34" charset="0"/>
              <a:buChar char="•"/>
              <a:defRPr sz="2000"/>
            </a:lvl1pPr>
            <a:lvl2pPr indent="-283464">
              <a:spcBef>
                <a:spcPts val="1800"/>
              </a:spcBef>
              <a:defRPr sz="2000"/>
            </a:lvl2pPr>
            <a:lvl3pPr indent="-283464">
              <a:spcBef>
                <a:spcPts val="1800"/>
              </a:spcBef>
              <a:defRPr sz="2000"/>
            </a:lvl3pPr>
            <a:lvl4pPr indent="-283464">
              <a:spcBef>
                <a:spcPts val="1800"/>
              </a:spcBef>
              <a:defRPr sz="2000"/>
            </a:lvl4pPr>
            <a:lvl5pPr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ED58739-4346-5104-B1AC-89ED035912A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272B8D-F380-9F1A-C8E6-BDD2352B1763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029641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304">
          <p15:clr>
            <a:srgbClr val="FBAE40"/>
          </p15:clr>
        </p15:guide>
        <p15:guide id="4" pos="5736">
          <p15:clr>
            <a:srgbClr val="FBAE40"/>
          </p15:clr>
        </p15:guide>
        <p15:guide id="5" pos="1944">
          <p15:clr>
            <a:srgbClr val="FBAE40"/>
          </p15:clr>
        </p15:guide>
        <p15:guide id="6" pos="4008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440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pos="5352">
          <p15:clr>
            <a:srgbClr val="FBAE40"/>
          </p15:clr>
        </p15:guide>
        <p15:guide id="11" pos="3648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69706A2-3726-FE4E-B923-E75D48597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09905" y="454955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0271085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C97D5AF2-684A-4A8D-3D82-B57D7AC44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2" name="Freeform 4">
              <a:extLst>
                <a:ext uri="{FF2B5EF4-FFF2-40B4-BE49-F238E27FC236}">
                  <a16:creationId xmlns:a16="http://schemas.microsoft.com/office/drawing/2014/main" id="{8CF5F650-F8F0-F4FE-44DA-1F14ADE42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18870924-E47D-404F-59B5-BD1C58F7B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80806A65-E4FC-2F52-65B3-CC181E620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278129"/>
            <a:ext cx="9778365" cy="1494596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F14DA3C5-63E4-BAFB-1D68-47F71EEEE538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94360" y="2676525"/>
            <a:ext cx="4490827" cy="3597470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283464" indent="-283464">
              <a:spcBef>
                <a:spcPts val="1800"/>
              </a:spcBef>
              <a:defRPr sz="2000"/>
            </a:lvl2pPr>
            <a:lvl3pPr marL="594360" indent="-283464">
              <a:spcBef>
                <a:spcPts val="1800"/>
              </a:spcBef>
              <a:defRPr sz="2000"/>
            </a:lvl3pPr>
            <a:lvl4pPr marL="822960" indent="-283464">
              <a:spcBef>
                <a:spcPts val="1800"/>
              </a:spcBef>
              <a:defRPr sz="2000"/>
            </a:lvl4pPr>
            <a:lvl5pPr marL="1005840"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BD11386D-847E-8CF5-E56A-42E80A65A08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881898" y="2676525"/>
            <a:ext cx="4490827" cy="3597470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283464" indent="-283464">
              <a:spcBef>
                <a:spcPts val="1800"/>
              </a:spcBef>
              <a:defRPr sz="2000"/>
            </a:lvl2pPr>
            <a:lvl3pPr marL="548640" indent="-283464">
              <a:spcBef>
                <a:spcPts val="1800"/>
              </a:spcBef>
              <a:defRPr sz="2000"/>
            </a:lvl3pPr>
            <a:lvl4pPr marL="822960" indent="-283464">
              <a:spcBef>
                <a:spcPts val="1800"/>
              </a:spcBef>
              <a:defRPr sz="2000"/>
            </a:lvl4pPr>
            <a:lvl5pPr marL="1005840"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10569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42E558A9-6DD6-E21D-3A8F-6707E1DD1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12" name="AutoShape 24">
              <a:extLst>
                <a:ext uri="{FF2B5EF4-FFF2-40B4-BE49-F238E27FC236}">
                  <a16:creationId xmlns:a16="http://schemas.microsoft.com/office/drawing/2014/main" id="{3FC994E4-318C-1E66-B4E4-8F8FD08E098F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17C00E6B-F625-6D6C-8364-9DD9F3C3628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Freeform 8">
              <a:extLst>
                <a:ext uri="{FF2B5EF4-FFF2-40B4-BE49-F238E27FC236}">
                  <a16:creationId xmlns:a16="http://schemas.microsoft.com/office/drawing/2014/main" id="{C6197B87-4F65-7981-9463-84830CD3687F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8" name="Freeform 9">
              <a:extLst>
                <a:ext uri="{FF2B5EF4-FFF2-40B4-BE49-F238E27FC236}">
                  <a16:creationId xmlns:a16="http://schemas.microsoft.com/office/drawing/2014/main" id="{86AA517C-7217-D864-B7E7-40984A2880DB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9" name="Freeform 10">
              <a:extLst>
                <a:ext uri="{FF2B5EF4-FFF2-40B4-BE49-F238E27FC236}">
                  <a16:creationId xmlns:a16="http://schemas.microsoft.com/office/drawing/2014/main" id="{524013C6-491C-CAA2-5BD6-7C73596711CC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18885" y="3499667"/>
            <a:ext cx="4939666" cy="254281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47460" y="631317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3885" y="457201"/>
            <a:ext cx="5198269" cy="2305050"/>
          </a:xfrm>
        </p:spPr>
        <p:txBody>
          <a:bodyPr lIns="0" tIns="274320">
            <a:normAutofit/>
          </a:bodyPr>
          <a:lstStyle>
            <a:lvl1pPr marL="457200" indent="-457200">
              <a:spcBef>
                <a:spcPts val="1800"/>
              </a:spcBef>
              <a:buFont typeface="+mj-lt"/>
              <a:buAutoNum type="arabicPeriod"/>
              <a:defRPr sz="2000"/>
            </a:lvl1pPr>
            <a:lvl2pPr marL="914400" indent="-457200">
              <a:spcBef>
                <a:spcPts val="1800"/>
              </a:spcBef>
              <a:buFont typeface="+mj-lt"/>
              <a:buAutoNum type="alphaLcPeriod"/>
              <a:defRPr sz="2000"/>
            </a:lvl2pPr>
            <a:lvl3pPr marL="1371600" indent="-457200">
              <a:spcBef>
                <a:spcPts val="1800"/>
              </a:spcBef>
              <a:buFont typeface="+mj-lt"/>
              <a:buAutoNum type="arabicParenR"/>
              <a:defRPr sz="2000"/>
            </a:lvl3pPr>
            <a:lvl4pPr marL="1371600" indent="0">
              <a:spcBef>
                <a:spcPts val="1800"/>
              </a:spcBef>
              <a:buFont typeface="+mj-lt"/>
              <a:buNone/>
              <a:defRPr sz="2000"/>
            </a:lvl4pPr>
            <a:lvl5pPr marL="2286000" indent="-457200">
              <a:spcBef>
                <a:spcPts val="1800"/>
              </a:spcBef>
              <a:buFont typeface="+mj-lt"/>
              <a:buAutoNum type="arabicPeriod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endParaRPr lang="en-US" dirty="0"/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3AC171DA-232D-44C1-6B93-40BACB298F4B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94360" y="2810595"/>
            <a:ext cx="5198269" cy="3319513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283464" indent="-283464">
              <a:spcBef>
                <a:spcPts val="1800"/>
              </a:spcBef>
              <a:defRPr sz="2000"/>
            </a:lvl2pPr>
            <a:lvl3pPr marL="548640" indent="-283464">
              <a:spcBef>
                <a:spcPts val="1800"/>
              </a:spcBef>
              <a:defRPr sz="2000"/>
            </a:lvl3pPr>
            <a:lvl4pPr marL="822960" indent="-283464">
              <a:spcBef>
                <a:spcPts val="1800"/>
              </a:spcBef>
              <a:defRPr sz="2000"/>
            </a:lvl4pPr>
            <a:lvl5pPr marL="1005840"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546068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Pictur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5310" y="278129"/>
            <a:ext cx="5063490" cy="2354026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1EF4505D-6803-3813-7738-04996342781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94360" y="3279579"/>
            <a:ext cx="5044440" cy="2994415"/>
          </a:xfrm>
        </p:spPr>
        <p:txBody>
          <a:bodyPr lIns="0" tIns="22860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indent="-283464">
              <a:spcBef>
                <a:spcPts val="1800"/>
              </a:spcBef>
              <a:defRPr sz="2000"/>
            </a:lvl2pPr>
            <a:lvl3pPr indent="-283464">
              <a:spcBef>
                <a:spcPts val="1800"/>
              </a:spcBef>
              <a:defRPr sz="2000"/>
            </a:lvl3pPr>
            <a:lvl4pPr indent="-283464">
              <a:spcBef>
                <a:spcPts val="1800"/>
              </a:spcBef>
              <a:defRPr sz="2000"/>
            </a:lvl4pPr>
            <a:lvl5pPr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997459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4658637A-5D36-6127-19BC-C203E23FA49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6000" y="0"/>
            <a:ext cx="6118225" cy="68580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293197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Tab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CF555767-B3D8-BD57-1D42-7F6E1E668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9" name="Freeform 13">
              <a:extLst>
                <a:ext uri="{FF2B5EF4-FFF2-40B4-BE49-F238E27FC236}">
                  <a16:creationId xmlns:a16="http://schemas.microsoft.com/office/drawing/2014/main" id="{BC972B6D-098C-52F6-E990-52623B368FB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3F0D3EE3-9A8C-531D-1EEE-1AFAB9F3BCAE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7" name="Freeform 15">
              <a:extLst>
                <a:ext uri="{FF2B5EF4-FFF2-40B4-BE49-F238E27FC236}">
                  <a16:creationId xmlns:a16="http://schemas.microsoft.com/office/drawing/2014/main" id="{A2BE192C-1768-890B-EC1B-5ED6E1F8259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61409" y="4661717"/>
            <a:ext cx="7936230" cy="138076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670935" y="631317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3885" y="584005"/>
            <a:ext cx="2825115" cy="3999060"/>
          </a:xfrm>
        </p:spPr>
        <p:txBody>
          <a:bodyPr lIns="0" tIns="27432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457200" indent="0">
              <a:spcBef>
                <a:spcPts val="1800"/>
              </a:spcBef>
              <a:buNone/>
              <a:defRPr sz="2000"/>
            </a:lvl2pPr>
            <a:lvl3pPr marL="914400" indent="0">
              <a:spcBef>
                <a:spcPts val="1800"/>
              </a:spcBef>
              <a:buNone/>
              <a:defRPr sz="2000"/>
            </a:lvl3pPr>
            <a:lvl4pPr marL="1371600" indent="0">
              <a:spcBef>
                <a:spcPts val="1800"/>
              </a:spcBef>
              <a:buNone/>
              <a:defRPr sz="2000"/>
            </a:lvl4pPr>
            <a:lvl5pPr marL="1828800" indent="0">
              <a:spcBef>
                <a:spcPts val="1800"/>
              </a:spcBef>
              <a:buNone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CAAA28-C292-C527-AD35-90836B8BB9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70934" y="584005"/>
            <a:ext cx="7926705" cy="3999060"/>
          </a:xfrm>
        </p:spPr>
        <p:txBody>
          <a:bodyPr lIns="0">
            <a:normAutofit/>
          </a:bodyPr>
          <a:lstStyle>
            <a:lvl1pPr marL="0" indent="0">
              <a:spcBef>
                <a:spcPts val="1800"/>
              </a:spcBef>
              <a:buNone/>
              <a:defRPr sz="2000"/>
            </a:lvl1pPr>
            <a:lvl2pPr>
              <a:spcBef>
                <a:spcPts val="6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443291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C97D5AF2-684A-4A8D-3D82-B57D7AC44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2" name="Freeform 4">
              <a:extLst>
                <a:ext uri="{FF2B5EF4-FFF2-40B4-BE49-F238E27FC236}">
                  <a16:creationId xmlns:a16="http://schemas.microsoft.com/office/drawing/2014/main" id="{8CF5F650-F8F0-F4FE-44DA-1F14ADE42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18870924-E47D-404F-59B5-BD1C58F7B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80806A65-E4FC-2F52-65B3-CC181E620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98408"/>
            <a:ext cx="10972800" cy="1574317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CAAA28-C292-C527-AD35-90836B8BB9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5523" y="2676525"/>
            <a:ext cx="5746750" cy="3597470"/>
          </a:xfrm>
        </p:spPr>
        <p:txBody>
          <a:bodyPr lIns="0">
            <a:normAutofit/>
          </a:bodyPr>
          <a:lstStyle>
            <a:lvl1pPr marL="0" indent="0">
              <a:spcBef>
                <a:spcPts val="1800"/>
              </a:spcBef>
              <a:buNone/>
              <a:defRPr sz="2000"/>
            </a:lvl1pPr>
            <a:lvl2pPr>
              <a:spcBef>
                <a:spcPts val="6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7620000" y="2676525"/>
            <a:ext cx="3947160" cy="3597470"/>
          </a:xfrm>
        </p:spPr>
        <p:txBody>
          <a:bodyPr lIns="0">
            <a:normAutofit/>
          </a:bodyPr>
          <a:lstStyle>
            <a:lvl1pPr marL="342900" indent="-342900">
              <a:spcBef>
                <a:spcPts val="1800"/>
              </a:spcBef>
              <a:buFont typeface="Arial" panose="020B0604020202020204" pitchFamily="34" charset="0"/>
              <a:buChar char="•"/>
              <a:defRPr sz="2000"/>
            </a:lvl1pPr>
            <a:lvl2pPr>
              <a:spcBef>
                <a:spcPts val="18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6497447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202400"/>
            <a:ext cx="10972800" cy="1570325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9" name="Table Placeholder 2">
            <a:extLst>
              <a:ext uri="{FF2B5EF4-FFF2-40B4-BE49-F238E27FC236}">
                <a16:creationId xmlns:a16="http://schemas.microsoft.com/office/drawing/2014/main" id="{1506B022-475A-6647-98FF-D5C319A0C7C4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594360" y="2628629"/>
            <a:ext cx="10972800" cy="3636740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4109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94360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flipH="1" flipV="1">
            <a:off x="6092752" y="0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94360" y="454955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8B149C6-5AAC-B8E5-5411-EA38821F67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92738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ED84C6-50E6-6C43-8031-AFF6268E0C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4360" y="1825625"/>
            <a:ext cx="1038225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itle Placeholder 11">
            <a:extLst>
              <a:ext uri="{FF2B5EF4-FFF2-40B4-BE49-F238E27FC236}">
                <a16:creationId xmlns:a16="http://schemas.microsoft.com/office/drawing/2014/main" id="{D41FC0AE-253D-D242-9C88-017078F8A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365125"/>
            <a:ext cx="104013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" name="Date Placeholder 3">
            <a:extLst>
              <a:ext uri="{FF2B5EF4-FFF2-40B4-BE49-F238E27FC236}">
                <a16:creationId xmlns:a16="http://schemas.microsoft.com/office/drawing/2014/main" id="{EF47083A-6D76-4B4D-87CA-E08E212F78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33648" y="6332220"/>
            <a:ext cx="131318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endParaRPr lang="en-US" dirty="0">
              <a:latin typeface="+mn-lt"/>
            </a:endParaRPr>
          </a:p>
        </p:txBody>
      </p:sp>
      <p:sp>
        <p:nvSpPr>
          <p:cNvPr id="32" name="Slide Number Placeholder 5">
            <a:extLst>
              <a:ext uri="{FF2B5EF4-FFF2-40B4-BE49-F238E27FC236}">
                <a16:creationId xmlns:a16="http://schemas.microsoft.com/office/drawing/2014/main" id="{C8ADA0DF-3751-9A48-8A21-59F01C782D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94360" y="6332220"/>
            <a:ext cx="52324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1" i="0">
                <a:solidFill>
                  <a:schemeClr val="bg1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58922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1" r:id="rId1"/>
    <p:sldLayoutId id="2147483698" r:id="rId2"/>
    <p:sldLayoutId id="2147483710" r:id="rId3"/>
    <p:sldLayoutId id="2147483700" r:id="rId4"/>
    <p:sldLayoutId id="2147483701" r:id="rId5"/>
    <p:sldLayoutId id="2147483659" r:id="rId6"/>
    <p:sldLayoutId id="2147483709" r:id="rId7"/>
    <p:sldLayoutId id="2147483708" r:id="rId8"/>
    <p:sldLayoutId id="2147483707" r:id="rId9"/>
    <p:sldLayoutId id="2147483706" r:id="rId10"/>
    <p:sldLayoutId id="2147483705" r:id="rId11"/>
    <p:sldLayoutId id="2147483704" r:id="rId12"/>
    <p:sldLayoutId id="2147483703" r:id="rId13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b="1" i="0" kern="1200" spc="100" baseline="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600" indent="-283464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40">
          <p15:clr>
            <a:srgbClr val="547EBF"/>
          </p15:clr>
        </p15:guide>
        <p15:guide id="4" orient="horz" pos="240">
          <p15:clr>
            <a:srgbClr val="547EBF"/>
          </p15:clr>
        </p15:guide>
        <p15:guide id="5" pos="7440">
          <p15:clr>
            <a:srgbClr val="547EBF"/>
          </p15:clr>
        </p15:guide>
        <p15:guide id="6" orient="horz" pos="4080">
          <p15:clr>
            <a:srgbClr val="547EBF"/>
          </p15:clr>
        </p15:guide>
        <p15:guide id="7" pos="600" userDrawn="1">
          <p15:clr>
            <a:srgbClr val="547EBF"/>
          </p15:clr>
        </p15:guide>
        <p15:guide id="8" pos="3720">
          <p15:clr>
            <a:srgbClr val="547EBF"/>
          </p15:clr>
        </p15:guide>
        <p15:guide id="9" pos="2112">
          <p15:clr>
            <a:srgbClr val="547EBF"/>
          </p15:clr>
        </p15:guide>
        <p15:guide id="10" pos="1848">
          <p15:clr>
            <a:srgbClr val="547EBF"/>
          </p15:clr>
        </p15:guide>
        <p15:guide id="11" pos="5568">
          <p15:clr>
            <a:srgbClr val="547EBF"/>
          </p15:clr>
        </p15:guide>
        <p15:guide id="12" pos="5832">
          <p15:clr>
            <a:srgbClr val="547EBF"/>
          </p15:clr>
        </p15:guide>
        <p15:guide id="13" pos="4968">
          <p15:clr>
            <a:srgbClr val="9FCC3B"/>
          </p15:clr>
        </p15:guide>
        <p15:guide id="14" pos="5208">
          <p15:clr>
            <a:srgbClr val="9FCC3B"/>
          </p15:clr>
        </p15:guide>
        <p15:guide id="15" pos="2712">
          <p15:clr>
            <a:srgbClr val="9FCC3B"/>
          </p15:clr>
        </p15:guide>
        <p15:guide id="16" pos="2472">
          <p15:clr>
            <a:srgbClr val="9FCC3B"/>
          </p15:clr>
        </p15:guide>
        <p15:guide id="17" pos="39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dokita-umber.vercel.app/" TargetMode="Externa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5144E2-0061-1E64-F51F-AA0FF4F242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E88BB0-399E-5EBF-0619-26C25A45F5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4360" y="411479"/>
            <a:ext cx="5486400" cy="3291840"/>
          </a:xfrm>
        </p:spPr>
        <p:txBody>
          <a:bodyPr/>
          <a:lstStyle/>
          <a:p>
            <a:r>
              <a:rPr lang="en-US" dirty="0"/>
              <a:t>Group Name: Data Weavers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94FDD3-69E7-7713-55CB-728750512B9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926080" y="4531264"/>
            <a:ext cx="7123176" cy="1645920"/>
          </a:xfrm>
        </p:spPr>
        <p:txBody>
          <a:bodyPr/>
          <a:lstStyle/>
          <a:p>
            <a:r>
              <a:rPr lang="en-US" dirty="0"/>
              <a:t>Members:</a:t>
            </a:r>
          </a:p>
          <a:p>
            <a:r>
              <a:rPr lang="en-US" dirty="0"/>
              <a:t>Gift Ele-Ojo Moses</a:t>
            </a:r>
          </a:p>
          <a:p>
            <a:r>
              <a:rPr lang="en-US" dirty="0"/>
              <a:t>Adenike Oladimeji-Kasumu</a:t>
            </a:r>
          </a:p>
        </p:txBody>
      </p:sp>
    </p:spTree>
    <p:extLst>
      <p:ext uri="{BB962C8B-B14F-4D97-AF65-F5344CB8AC3E}">
        <p14:creationId xmlns:p14="http://schemas.microsoft.com/office/powerpoint/2010/main" val="17857389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1D9D6-2977-ABCD-FDF8-51AFA5064E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44568" y="411479"/>
            <a:ext cx="7251736" cy="3291840"/>
          </a:xfrm>
        </p:spPr>
        <p:txBody>
          <a:bodyPr/>
          <a:lstStyle/>
          <a:p>
            <a:br>
              <a:rPr lang="en-US" dirty="0"/>
            </a:br>
            <a:r>
              <a:rPr lang="en-US" dirty="0" err="1"/>
              <a:t>AskDokita</a:t>
            </a:r>
            <a:r>
              <a:rPr lang="en-US" dirty="0"/>
              <a:t>: </a:t>
            </a:r>
            <a:r>
              <a:rPr lang="en-US" sz="3200" b="0" dirty="0">
                <a:latin typeface="+mn-lt"/>
              </a:rPr>
              <a:t>AI-Powered Public Health Support Chatbot for Africa</a:t>
            </a:r>
          </a:p>
        </p:txBody>
      </p:sp>
    </p:spTree>
    <p:extLst>
      <p:ext uri="{BB962C8B-B14F-4D97-AF65-F5344CB8AC3E}">
        <p14:creationId xmlns:p14="http://schemas.microsoft.com/office/powerpoint/2010/main" val="33903042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30BF65-C84B-45C3-72CA-AFDA688511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89572"/>
            <a:ext cx="6787747" cy="1593507"/>
          </a:xfrm>
        </p:spPr>
        <p:txBody>
          <a:bodyPr/>
          <a:lstStyle/>
          <a:p>
            <a:r>
              <a:rPr lang="en-US" dirty="0"/>
              <a:t>The Problem: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8EBC2C-6DD7-5003-38EB-40753046FE8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93725" y="2281238"/>
            <a:ext cx="6788150" cy="3709987"/>
          </a:xfrm>
        </p:spPr>
        <p:txBody>
          <a:bodyPr tIns="457200"/>
          <a:lstStyle/>
          <a:p>
            <a:pPr marL="0" indent="0">
              <a:buNone/>
            </a:pPr>
            <a:r>
              <a:rPr lang="en-US" dirty="0"/>
              <a:t>Millions of Africans—especially in rural areas—lack quick access to verified medical information.</a:t>
            </a:r>
            <a:br>
              <a:rPr lang="en-US" dirty="0"/>
            </a:br>
            <a:r>
              <a:rPr lang="en-US" dirty="0"/>
              <a:t>Frontline workers often rely on outdated guidelines, slow communication lines, or guesswork, which increases the risk of treatment errors for illnesses like malaria, cholera, and respiratory infections.</a:t>
            </a:r>
          </a:p>
        </p:txBody>
      </p:sp>
    </p:spTree>
    <p:extLst>
      <p:ext uri="{BB962C8B-B14F-4D97-AF65-F5344CB8AC3E}">
        <p14:creationId xmlns:p14="http://schemas.microsoft.com/office/powerpoint/2010/main" val="33466857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Placeholder 10" descr="A close-up of a plant">
            <a:extLst>
              <a:ext uri="{FF2B5EF4-FFF2-40B4-BE49-F238E27FC236}">
                <a16:creationId xmlns:a16="http://schemas.microsoft.com/office/drawing/2014/main" id="{8DB431A1-9806-9CFE-0E5F-1A5611C2A666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" r="23"/>
          <a:stretch/>
        </p:blipFill>
        <p:spPr>
          <a:xfrm>
            <a:off x="0" y="0"/>
            <a:ext cx="12192000" cy="6880225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9C37279A-330D-886F-340D-494A5005E5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49823" y="2563064"/>
            <a:ext cx="3118105" cy="1487728"/>
          </a:xfrm>
        </p:spPr>
        <p:txBody>
          <a:bodyPr/>
          <a:lstStyle/>
          <a:p>
            <a:r>
              <a:rPr lang="en-US" dirty="0"/>
              <a:t>Our Idea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158D48F0-A512-7DAF-9217-0C6ED8FA42D4}"/>
              </a:ext>
            </a:extLst>
          </p:cNvPr>
          <p:cNvSpPr txBox="1">
            <a:spLocks/>
          </p:cNvSpPr>
          <p:nvPr/>
        </p:nvSpPr>
        <p:spPr>
          <a:xfrm>
            <a:off x="8842248" y="640080"/>
            <a:ext cx="3349752" cy="5779008"/>
          </a:xfrm>
          <a:custGeom>
            <a:avLst/>
            <a:gdLst>
              <a:gd name="connsiteX0" fmla="*/ 6309360 w 12192000"/>
              <a:gd name="connsiteY0" fmla="*/ 3951843 h 6880543"/>
              <a:gd name="connsiteX1" fmla="*/ 6309360 w 12192000"/>
              <a:gd name="connsiteY1" fmla="*/ 4052427 h 6880543"/>
              <a:gd name="connsiteX2" fmla="*/ 8442960 w 12192000"/>
              <a:gd name="connsiteY2" fmla="*/ 4052427 h 6880543"/>
              <a:gd name="connsiteX3" fmla="*/ 8442960 w 12192000"/>
              <a:gd name="connsiteY3" fmla="*/ 3951843 h 6880543"/>
              <a:gd name="connsiteX4" fmla="*/ 0 w 12192000"/>
              <a:gd name="connsiteY4" fmla="*/ 0 h 6880543"/>
              <a:gd name="connsiteX5" fmla="*/ 12192000 w 12192000"/>
              <a:gd name="connsiteY5" fmla="*/ 0 h 6880543"/>
              <a:gd name="connsiteX6" fmla="*/ 12192000 w 12192000"/>
              <a:gd name="connsiteY6" fmla="*/ 6880543 h 6880543"/>
              <a:gd name="connsiteX7" fmla="*/ 0 w 12192000"/>
              <a:gd name="connsiteY7" fmla="*/ 6880543 h 6880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80543">
                <a:moveTo>
                  <a:pt x="6309360" y="3951843"/>
                </a:moveTo>
                <a:lnTo>
                  <a:pt x="6309360" y="4052427"/>
                </a:lnTo>
                <a:lnTo>
                  <a:pt x="8442960" y="4052427"/>
                </a:lnTo>
                <a:lnTo>
                  <a:pt x="8442960" y="3951843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80543"/>
                </a:lnTo>
                <a:lnTo>
                  <a:pt x="0" y="6880543"/>
                </a:lnTo>
                <a:close/>
              </a:path>
            </a:pathLst>
          </a:custGeom>
        </p:spPr>
        <p:txBody>
          <a:bodyPr vert="horz" wrap="square" lIns="91440" tIns="45720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b="1" dirty="0"/>
          </a:p>
          <a:p>
            <a:r>
              <a:rPr lang="en-US" b="1" dirty="0" err="1"/>
              <a:t>AskDokita</a:t>
            </a:r>
            <a:r>
              <a:rPr lang="en-US" b="1" dirty="0"/>
              <a:t> is an AI-powered health assistant that delivers fast, trusted medical guidance through SMS and web.</a:t>
            </a:r>
            <a:br>
              <a:rPr lang="en-US" dirty="0"/>
            </a:br>
            <a:r>
              <a:rPr lang="en-US" dirty="0"/>
              <a:t>It uses a Retrieval-Augmented Generation (RAG) system built on verified health documents (WHO reports, guidelines, manuals) to ensure answers are accurate, sourced, and safe.</a:t>
            </a:r>
          </a:p>
        </p:txBody>
      </p:sp>
    </p:spTree>
    <p:extLst>
      <p:ext uri="{BB962C8B-B14F-4D97-AF65-F5344CB8AC3E}">
        <p14:creationId xmlns:p14="http://schemas.microsoft.com/office/powerpoint/2010/main" val="22493726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177" y="176346"/>
            <a:ext cx="10873740" cy="1680205"/>
          </a:xfrm>
        </p:spPr>
        <p:txBody>
          <a:bodyPr/>
          <a:lstStyle/>
          <a:p>
            <a:r>
              <a:rPr lang="en-US" dirty="0"/>
              <a:t>How </a:t>
            </a:r>
            <a:r>
              <a:rPr lang="en-US" dirty="0" err="1"/>
              <a:t>AskDokita</a:t>
            </a:r>
            <a:r>
              <a:rPr lang="en-US" dirty="0"/>
              <a:t> Works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70BD87D-F7DA-961B-4024-A354DC87D16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657600" y="2281238"/>
            <a:ext cx="7810500" cy="3700462"/>
          </a:xfrm>
        </p:spPr>
        <p:txBody>
          <a:bodyPr>
            <a:normAutofit/>
          </a:bodyPr>
          <a:lstStyle/>
          <a:p>
            <a:r>
              <a:rPr lang="en-US" dirty="0"/>
              <a:t>Users send a health question via </a:t>
            </a:r>
            <a:r>
              <a:rPr lang="en-US" b="1" dirty="0"/>
              <a:t>SMS or web</a:t>
            </a:r>
            <a:endParaRPr lang="en-US" dirty="0"/>
          </a:p>
          <a:p>
            <a:r>
              <a:rPr lang="en-US" dirty="0"/>
              <a:t>Our RAG engine retrieves verified content from WHO-based documents</a:t>
            </a:r>
          </a:p>
          <a:p>
            <a:r>
              <a:rPr lang="en-US" dirty="0"/>
              <a:t>The model generates a </a:t>
            </a:r>
            <a:r>
              <a:rPr lang="en-US" b="1" dirty="0"/>
              <a:t>clear, cited, and safe response</a:t>
            </a:r>
            <a:endParaRPr lang="en-US" dirty="0"/>
          </a:p>
          <a:p>
            <a:r>
              <a:rPr lang="en-US" dirty="0"/>
              <a:t>Delivered instantly—even on low-bandwidth phones</a:t>
            </a:r>
          </a:p>
          <a:p>
            <a:endParaRPr lang="en-US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2003120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219791-9EB0-F6D1-4614-5B7DD1EB9E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803541"/>
            <a:ext cx="3456432" cy="1680205"/>
          </a:xfrm>
        </p:spPr>
        <p:txBody>
          <a:bodyPr/>
          <a:lstStyle/>
          <a:p>
            <a:r>
              <a:rPr lang="en-US" dirty="0"/>
              <a:t>Our Process: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E8ADCF-4986-5C50-B0CE-20D26744A33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66253" y="1064480"/>
            <a:ext cx="5383203" cy="5176664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/>
              <a:t>Tools &amp; Platform</a:t>
            </a:r>
          </a:p>
          <a:p>
            <a:r>
              <a:rPr lang="en-US" b="1" dirty="0"/>
              <a:t>Backend:</a:t>
            </a:r>
            <a:r>
              <a:rPr lang="en-US" dirty="0"/>
              <a:t> </a:t>
            </a:r>
            <a:r>
              <a:rPr lang="en-US" dirty="0" err="1"/>
              <a:t>FastAPI</a:t>
            </a:r>
            <a:r>
              <a:rPr lang="en-US" dirty="0"/>
              <a:t> + Gemini SDK, deployed on Render (Free Tier).</a:t>
            </a:r>
            <a:br>
              <a:rPr lang="en-US" dirty="0"/>
            </a:br>
            <a:r>
              <a:rPr lang="en-US" b="1" dirty="0"/>
              <a:t>Frontend:</a:t>
            </a:r>
            <a:r>
              <a:rPr lang="en-US" dirty="0"/>
              <a:t> Next.js/React UI on </a:t>
            </a:r>
            <a:r>
              <a:rPr lang="en-US" dirty="0" err="1"/>
              <a:t>Vercel</a:t>
            </a:r>
            <a:r>
              <a:rPr lang="en-US" dirty="0"/>
              <a:t> (Live demo available).</a:t>
            </a:r>
            <a:br>
              <a:rPr lang="en-US" dirty="0"/>
            </a:br>
            <a:r>
              <a:rPr lang="en-US" b="1" dirty="0"/>
              <a:t>SMS Integration:</a:t>
            </a:r>
            <a:r>
              <a:rPr lang="en-US" dirty="0"/>
              <a:t> Provider-agnostic </a:t>
            </a:r>
            <a:r>
              <a:rPr lang="en-US" dirty="0" err="1"/>
              <a:t>TwiML</a:t>
            </a:r>
            <a:r>
              <a:rPr lang="en-US" dirty="0"/>
              <a:t> XML output; compatible with Africa’s Talking/Twilio. Prototype ready for final gateway connection.</a:t>
            </a:r>
          </a:p>
          <a:p>
            <a:pPr marL="0" indent="0">
              <a:buNone/>
            </a:pPr>
            <a:r>
              <a:rPr lang="en-US" dirty="0"/>
              <a:t>Here is the Live link.</a:t>
            </a:r>
          </a:p>
          <a:p>
            <a:pPr marL="0" indent="0">
              <a:buNone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 </a:t>
            </a:r>
            <a:r>
              <a:rPr lang="en-US" altLang="en-US" dirty="0">
                <a:solidFill>
                  <a:srgbClr val="1155CC"/>
                </a:solidFill>
                <a:latin typeface="Arial" panose="020B0604020202020204" pitchFamily="34" charset="0"/>
                <a:hlinkClick r:id="rId2"/>
              </a:rPr>
              <a:t>https://dokita-umber.vercel.app/</a:t>
            </a:r>
            <a:endParaRPr lang="en-US" dirty="0"/>
          </a:p>
          <a:p>
            <a:pPr marL="0" indent="0">
              <a:buNone/>
            </a:pPr>
            <a:r>
              <a:rPr lang="en-US" b="1" dirty="0"/>
              <a:t>Focus &amp; Impact</a:t>
            </a:r>
          </a:p>
          <a:p>
            <a:r>
              <a:rPr lang="en-US" dirty="0"/>
              <a:t>Instant, verified public-health guidance for community health workers.</a:t>
            </a:r>
          </a:p>
          <a:p>
            <a:r>
              <a:rPr lang="en-US" dirty="0"/>
              <a:t>Reduces diagnostic errors and improves treatment accuracy.</a:t>
            </a:r>
          </a:p>
          <a:p>
            <a:r>
              <a:rPr lang="en-US" dirty="0"/>
              <a:t>RAG ensures safety; SMS ensures reach, even on basic phones.</a:t>
            </a:r>
          </a:p>
          <a:p>
            <a:endParaRPr lang="en-US"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5FEF2AEB-A8A7-E84E-7C93-B0EEFA3B42CD}"/>
              </a:ext>
            </a:extLst>
          </p:cNvPr>
          <p:cNvSpPr txBox="1">
            <a:spLocks/>
          </p:cNvSpPr>
          <p:nvPr/>
        </p:nvSpPr>
        <p:spPr>
          <a:xfrm>
            <a:off x="319605" y="1029064"/>
            <a:ext cx="5383203" cy="5176664"/>
          </a:xfrm>
          <a:prstGeom prst="rect">
            <a:avLst/>
          </a:prstGeom>
        </p:spPr>
        <p:txBody>
          <a:bodyPr vert="horz" lIns="0" tIns="228600" rIns="0" bIns="0" rtlCol="0">
            <a:normAutofit fontScale="92500" lnSpcReduction="20000"/>
          </a:bodyPr>
          <a:lstStyle>
            <a:lvl1pPr marL="283464" indent="-283464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Data Sources (Knowledge Base)</a:t>
            </a:r>
          </a:p>
          <a:p>
            <a:r>
              <a:rPr lang="en-US" dirty="0"/>
              <a:t>Uses verified public health documents (e.g., WHO Malaria Report).</a:t>
            </a:r>
          </a:p>
          <a:p>
            <a:r>
              <a:rPr lang="en-US" dirty="0"/>
              <a:t>More datasets (Cholera, Maternal Health) planned for expansion.</a:t>
            </a:r>
          </a:p>
          <a:p>
            <a:r>
              <a:rPr lang="en-US" dirty="0"/>
              <a:t>Demo currently uses LLM general knowledge; final version will rely fully on vector-store, cited answers.</a:t>
            </a:r>
          </a:p>
          <a:p>
            <a:pPr marL="0" indent="0">
              <a:buNone/>
            </a:pPr>
            <a:r>
              <a:rPr lang="en-US" b="1" dirty="0"/>
              <a:t>NLP Method — RAG</a:t>
            </a:r>
          </a:p>
          <a:p>
            <a:r>
              <a:rPr lang="en-US" dirty="0"/>
              <a:t>Retrieval-Augmented Generation ensures factual, non-hallucinated medical responses.</a:t>
            </a:r>
          </a:p>
          <a:p>
            <a:r>
              <a:rPr lang="en-US" dirty="0"/>
              <a:t>Pipeline: </a:t>
            </a:r>
            <a:r>
              <a:rPr lang="en-US" dirty="0" err="1"/>
              <a:t>LangChain</a:t>
            </a:r>
            <a:r>
              <a:rPr lang="en-US" dirty="0"/>
              <a:t> → Sentence-Transformer embeddings → </a:t>
            </a:r>
            <a:r>
              <a:rPr lang="en-US" dirty="0" err="1"/>
              <a:t>ChromaDB</a:t>
            </a:r>
            <a:r>
              <a:rPr lang="en-US" dirty="0"/>
              <a:t> → Gemini model synthesis.</a:t>
            </a:r>
          </a:p>
          <a:p>
            <a:r>
              <a:rPr lang="en-US" dirty="0"/>
              <a:t>Provides traceable, document-grounded answers.</a:t>
            </a:r>
          </a:p>
          <a:p>
            <a:endParaRPr lang="en-US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0FA15526-316E-6054-12D7-15C1CCC26389}"/>
              </a:ext>
            </a:extLst>
          </p:cNvPr>
          <p:cNvSpPr txBox="1">
            <a:spLocks/>
          </p:cNvSpPr>
          <p:nvPr/>
        </p:nvSpPr>
        <p:spPr>
          <a:xfrm>
            <a:off x="4207548" y="731520"/>
            <a:ext cx="5155907" cy="45719"/>
          </a:xfrm>
          <a:prstGeom prst="rect">
            <a:avLst/>
          </a:prstGeom>
        </p:spPr>
        <p:txBody>
          <a:bodyPr vert="horz" lIns="0" tIns="228600" rIns="0" bIns="0" rtlCol="0">
            <a:normAutofit fontScale="25000" lnSpcReduction="20000"/>
          </a:bodyPr>
          <a:lstStyle>
            <a:lvl1pPr marL="283464" indent="-283464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15" name="Rectangle 10">
            <a:extLst>
              <a:ext uri="{FF2B5EF4-FFF2-40B4-BE49-F238E27FC236}">
                <a16:creationId xmlns:a16="http://schemas.microsoft.com/office/drawing/2014/main" id="{2245347C-82EB-621F-D832-62BCF8772B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-300307"/>
            <a:ext cx="1377532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Live Link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" name="Rectangle 11">
            <a:extLst>
              <a:ext uri="{FF2B5EF4-FFF2-40B4-BE49-F238E27FC236}">
                <a16:creationId xmlns:a16="http://schemas.microsoft.com/office/drawing/2014/main" id="{3E00D12B-354B-3360-BEEE-D5A8A69EAF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461665"/>
            <a:ext cx="248786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155CC"/>
                </a:solidFill>
                <a:effectLst/>
                <a:latin typeface="Arial" panose="020B0604020202020204" pitchFamily="34" charset="0"/>
                <a:hlinkClick r:id="rId2"/>
              </a:rPr>
              <a:t>/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03962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1633A5-8BE3-D44D-57F3-2EF1613768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1442CD-A26D-1761-8CE7-8BC3075BB4E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923532" y="5957728"/>
            <a:ext cx="5486400" cy="461360"/>
          </a:xfrm>
        </p:spPr>
        <p:txBody>
          <a:bodyPr>
            <a:normAutofit/>
          </a:bodyPr>
          <a:lstStyle/>
          <a:p>
            <a:r>
              <a:rPr lang="en-US" dirty="0"/>
              <a:t>Visual representation of </a:t>
            </a:r>
            <a:r>
              <a:rPr lang="en-US" dirty="0" err="1"/>
              <a:t>AsDokita</a:t>
            </a:r>
            <a:endParaRPr lang="en-US" dirty="0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585838A-38DE-4C8E-4763-BB150A5DE0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6004" y="438912"/>
            <a:ext cx="10287000" cy="464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90597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5346ED-721D-85EE-2F1B-A31D0912DE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278129"/>
            <a:ext cx="9778365" cy="1494596"/>
          </a:xfrm>
        </p:spPr>
        <p:txBody>
          <a:bodyPr/>
          <a:lstStyle/>
          <a:p>
            <a:r>
              <a:rPr lang="en-US" dirty="0"/>
              <a:t>Impact Summary and who it helps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097449-5B72-ADA0-3B2D-1CBC160D6B90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94360" y="2676525"/>
            <a:ext cx="4490827" cy="3597470"/>
          </a:xfrm>
        </p:spPr>
        <p:txBody>
          <a:bodyPr>
            <a:normAutofit fontScale="85000" lnSpcReduction="20000"/>
          </a:bodyPr>
          <a:lstStyle/>
          <a:p>
            <a:r>
              <a:rPr lang="en-US" dirty="0" err="1"/>
              <a:t>AskDokita</a:t>
            </a:r>
            <a:r>
              <a:rPr lang="en-US" dirty="0"/>
              <a:t> reduces misinformation and helps health workers make better decisions on the spot.</a:t>
            </a:r>
            <a:br>
              <a:rPr lang="en-US" dirty="0"/>
            </a:br>
            <a:r>
              <a:rPr lang="en-US" dirty="0"/>
              <a:t>With reliable guidance delivered to basic phones, we bridge the gap between communities and medical knowledge.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/>
              <a:t>Fewer treatment errors</a:t>
            </a:r>
            <a:r>
              <a:rPr lang="en-US" dirty="0"/>
              <a:t> caused by lack of guidelines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/>
              <a:t>Faster response</a:t>
            </a:r>
            <a:r>
              <a:rPr lang="en-US" dirty="0"/>
              <a:t> to illnesses like malaria and cholera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/>
              <a:t>Better public health outcomes</a:t>
            </a:r>
            <a:r>
              <a:rPr lang="en-US" dirty="0"/>
              <a:t> in underserved communities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/>
              <a:t>Trustworthy, verified information</a:t>
            </a:r>
            <a:r>
              <a:rPr lang="en-US" dirty="0"/>
              <a:t> where it matters most</a:t>
            </a: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FC7B50-71A6-D8BE-C032-5EB4CF5706D5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5881898" y="2676525"/>
            <a:ext cx="4490827" cy="3597470"/>
          </a:xfrm>
        </p:spPr>
        <p:txBody>
          <a:bodyPr/>
          <a:lstStyle/>
          <a:p>
            <a:r>
              <a:rPr lang="en-US" dirty="0" err="1"/>
              <a:t>AskDokita</a:t>
            </a:r>
            <a:r>
              <a:rPr lang="en-US" dirty="0"/>
              <a:t> will assist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Community health workers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Rural clinics with limited internet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Parents and caregivers needing quick answers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Local health officers during outbreaks</a:t>
            </a:r>
          </a:p>
          <a:p>
            <a:pPr marL="0" lvl="1" indent="0">
              <a:buNone/>
            </a:pPr>
            <a:endParaRPr lang="en-US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72F2D239-8EA8-D2FA-B758-03D39BD0BA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Community health workers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Rural clinics with limited internet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Parents and caregivers needing quick answers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Local health officers during outbreaks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E3685256-4602-98DB-D64B-06308D5F50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Community health workers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Rural clinics with limited internet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Parents and caregivers needing quick answers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Local health officers during outbreaks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EAAADAEA-80E2-2C25-B45F-BDFDD5D673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3048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Community health workers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Rural clinics with limited internet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Parents and caregivers needing quick answers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Local health officers during outbreaks</a:t>
            </a: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E7D95D66-D7AB-8389-D44D-12EEF89E61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4572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Community health workers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Rural clinics with limited internet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Parents and caregivers needing quick answers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Local health officers during outbreaks</a:t>
            </a:r>
          </a:p>
        </p:txBody>
      </p:sp>
    </p:spTree>
    <p:extLst>
      <p:ext uri="{BB962C8B-B14F-4D97-AF65-F5344CB8AC3E}">
        <p14:creationId xmlns:p14="http://schemas.microsoft.com/office/powerpoint/2010/main" val="8884842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BD29B5-1B58-809F-FEA7-B82105E94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8885" y="3499667"/>
            <a:ext cx="4939666" cy="2542810"/>
          </a:xfrm>
        </p:spPr>
        <p:txBody>
          <a:bodyPr/>
          <a:lstStyle/>
          <a:p>
            <a:r>
              <a:rPr lang="en-US" dirty="0"/>
              <a:t>Scalability: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C3632C-2D2E-7026-33B8-EE42DA4BDB5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3885" y="457200"/>
            <a:ext cx="5198269" cy="496519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err="1"/>
              <a:t>AskDokita</a:t>
            </a:r>
            <a:r>
              <a:rPr lang="en-US" dirty="0"/>
              <a:t> can scale across Africa because: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SMS works on any mobile device</a:t>
            </a:r>
          </a:p>
          <a:p>
            <a:r>
              <a:rPr lang="en-US" dirty="0"/>
              <a:t>New health documents can be added easily to the RAG system</a:t>
            </a:r>
          </a:p>
          <a:p>
            <a:r>
              <a:rPr lang="en-US" dirty="0"/>
              <a:t>Local languages can be integrated</a:t>
            </a:r>
          </a:p>
          <a:p>
            <a:r>
              <a:rPr lang="en-US" dirty="0"/>
              <a:t>The system runs on lightweight APIs with minimal infrastructure cost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82253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0C1B7-6E4E-3DEE-50C0-1CA3B14303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4360" y="411479"/>
            <a:ext cx="5486400" cy="3291840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E734F0-2DDD-AF70-F13D-F9E4C192941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29184" y="1367440"/>
            <a:ext cx="7123176" cy="1645920"/>
          </a:xfrm>
        </p:spPr>
        <p:txBody>
          <a:bodyPr/>
          <a:lstStyle/>
          <a:p>
            <a:r>
              <a:rPr lang="en-US" dirty="0" err="1"/>
              <a:t>AskDokita</a:t>
            </a:r>
            <a:r>
              <a:rPr lang="en-US" dirty="0"/>
              <a:t> makes reliable health information accessible to everyone — no internet, no barriers, just answers.</a:t>
            </a:r>
          </a:p>
        </p:txBody>
      </p:sp>
    </p:spTree>
    <p:extLst>
      <p:ext uri="{BB962C8B-B14F-4D97-AF65-F5344CB8AC3E}">
        <p14:creationId xmlns:p14="http://schemas.microsoft.com/office/powerpoint/2010/main" val="4261132419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Swiss">
      <a:dk1>
        <a:srgbClr val="000000"/>
      </a:dk1>
      <a:lt1>
        <a:srgbClr val="FFFFFF"/>
      </a:lt1>
      <a:dk2>
        <a:srgbClr val="E4E4E4"/>
      </a:dk2>
      <a:lt2>
        <a:srgbClr val="7CA655"/>
      </a:lt2>
      <a:accent1>
        <a:srgbClr val="A9D4DB"/>
      </a:accent1>
      <a:accent2>
        <a:srgbClr val="FBE284"/>
      </a:accent2>
      <a:accent3>
        <a:srgbClr val="4495A2"/>
      </a:accent3>
      <a:accent4>
        <a:srgbClr val="AA5881"/>
      </a:accent4>
      <a:accent5>
        <a:srgbClr val="E06742"/>
      </a:accent5>
      <a:accent6>
        <a:srgbClr val="F9D448"/>
      </a:accent6>
      <a:hlink>
        <a:srgbClr val="4495A2"/>
      </a:hlink>
      <a:folHlink>
        <a:srgbClr val="AA5881"/>
      </a:folHlink>
    </a:clrScheme>
    <a:fontScheme name="Custom 175">
      <a:majorFont>
        <a:latin typeface="Franklin Gothic Demi"/>
        <a:ea typeface=""/>
        <a:cs typeface=""/>
      </a:majorFont>
      <a:minorFont>
        <a:latin typeface="Franklin Gothic Boo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78853419_Win32_SL_V5" id="{958D2C9E-948D-4354-BF9D-DF8AE3C2B240}" vid="{22D4A967-05D2-4D72-8594-54CFF341483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ackground xmlns="71af3243-3dd4-4a8d-8c0d-dd76da1f02a5">false</Background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F4B194E-8B30-4377-8C59-ECFB902D2A26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C21FFAC0-05A2-416A-B06C-C248395482C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2DB9E12-8AC3-4138-BF4D-720A5525AB1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{79A6A377-4956-4620-9B98-841A90821211}TFd3b75063-ff25-434d-b12c-efeaf07d16c3292f62b5_win32-75a75c970d8e</Template>
  <TotalTime>51</TotalTime>
  <Words>606</Words>
  <Application>Microsoft Office PowerPoint</Application>
  <PresentationFormat>Widescreen</PresentationFormat>
  <Paragraphs>81</Paragraphs>
  <Slides>10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Franklin Gothic Book</vt:lpstr>
      <vt:lpstr>Franklin Gothic Demi</vt:lpstr>
      <vt:lpstr>Custom</vt:lpstr>
      <vt:lpstr>Group Name: Data Weavers</vt:lpstr>
      <vt:lpstr> AskDokita: AI-Powered Public Health Support Chatbot for Africa</vt:lpstr>
      <vt:lpstr>The Problem:</vt:lpstr>
      <vt:lpstr>Our Idea</vt:lpstr>
      <vt:lpstr>How AskDokita Works</vt:lpstr>
      <vt:lpstr>Our Process: </vt:lpstr>
      <vt:lpstr>PowerPoint Presentation</vt:lpstr>
      <vt:lpstr>Impact Summary and who it helps</vt:lpstr>
      <vt:lpstr>Scalability: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Adenike Promise</dc:creator>
  <cp:lastModifiedBy>Adenike Promise</cp:lastModifiedBy>
  <cp:revision>3</cp:revision>
  <dcterms:created xsi:type="dcterms:W3CDTF">2025-11-23T10:24:25Z</dcterms:created>
  <dcterms:modified xsi:type="dcterms:W3CDTF">2025-11-23T11:15:59Z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